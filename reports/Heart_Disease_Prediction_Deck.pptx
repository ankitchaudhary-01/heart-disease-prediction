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CLINICAL DECISION SUPPORT &amp; MACHINE LEARNING</a:t>
            </a:r>
          </a:p>
          <a:p>
            <a:pPr>
              <a:spcAft>
                <a:spcPts val="1200"/>
              </a:spcAft>
              <a:defRPr sz="4600" b="1">
                <a:solidFill>
                  <a:srgbClr val="1E3A8A"/>
                </a:solidFill>
              </a:defRPr>
            </a:pPr>
            <a:r>
              <a:t>CardioPredict AI</a:t>
            </a:r>
          </a:p>
          <a:p>
            <a:pPr>
              <a:spcAft>
                <a:spcPts val="2400"/>
              </a:spcAft>
              <a:defRPr sz="1700">
                <a:solidFill>
                  <a:srgbClr val="1E293B"/>
                </a:solidFill>
              </a:defRPr>
            </a:pPr>
            <a:r>
              <a:t>End-to-End Predictive Machine Learning System for Coronary Heart Disease Detection &amp; Clinical Risk Stratification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Benchmark: UCI Cleveland Clinic Cardiology Cohort  |  AUC-ROC: 0.9109  | 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CARDIOPREDICT AI •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Executive Summary &amp; Clinical Rationale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EF4444"/>
                </a:solidFill>
              </a:defRPr>
            </a:pPr>
            <a:r>
              <a:t>17.9M Deaths / Year</a:t>
            </a:r>
          </a:p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</a:defRPr>
            </a:pPr>
            <a:r>
              <a:t>Global Mortality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Cardiovascular diseases are the leading cause of death globally (WHO report).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&gt; 40% Risk Reduction</a:t>
            </a:r>
          </a:p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</a:defRPr>
            </a:pPr>
            <a:r>
              <a:t>Early Detection Impact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Timely clinical identification of coronary stenosis enables life-saving interventions.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284C7"/>
                </a:solidFill>
              </a:defRPr>
            </a:pPr>
            <a:r>
              <a:t>13 Diagnostic Inputs</a:t>
            </a:r>
          </a:p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</a:defRPr>
            </a:pPr>
            <a:r>
              <a:t>Multi-Parametric AI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Combines resting hemodynamics, biochemistry, ECG, and exercise stress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2120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199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Clinical Diagnostic Challenges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Coronary artery disease often remains asymptomatic until acute myocardial infarction.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Physicians evaluate high-dimensional resting biometrics and stress tests with cognitive fatigue.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Subjective ECG repolarization interpretations show notable inter-observer variability.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Need for objective, calibrated risk probability score to prioritize catheterization.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49039"/>
            <a:ext cx="52120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886199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CardioPredict AI Objectives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Develop an evidence-based ML engine with strict featurization and zero data leakage.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Compare diverse architectures: Linear, Tree Ensembles, Support Vector Machines, KNN.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Provide calibrated probability estimates categorized into actionable clinical risk tiers.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Deploy an interactive Clinical Decision Support (CDS) web application for medical staff.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CARDIOPREDICT AI •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Cardiology Cohort &amp; Feature Dictionary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011680"/>
                <a:gridCol w="4846320"/>
              </a:tblGrid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Clinical Feature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Measurement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Normal / Reference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Diagnostic Significance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age / sex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Demographic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29-77 yrs / M, 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Biological baseline risk; male predisposition in premature CAD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trestbps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Hemodynamic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&lt; 120 mm 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Resting systolic blood pressure; mechanical arterial shear stress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chol / fbs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Biochemical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&lt; 200 mg/dl / &lt;= 120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Serum cholesterol &amp; fasting glycemia; atheroma plaque drivers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cp / exang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Symptomatology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Asymptomatic / No angina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Chest pain type &amp; exercise-induced angina under stress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restecg / slope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Electrocardiogram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Normal sinus / Upsloping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ST-T repolarization abnormality &amp; exercise ST peak slope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oldpeak / ca / thal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Stress &amp; Imaging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0.0 mm / 0 vessels / 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 depression, fluoroscopy stenosed arteries, myocardial perfusion defect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CARDIOPREDICT AI •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Engineering Pipeline &amp; Strict Featurization Ordering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1. Data Hygiene</a:t>
            </a:r>
          </a:p>
          <a:p>
            <a:pPr>
              <a:spcAft>
                <a:spcPts val="1000"/>
              </a:spcAft>
              <a:defRPr sz="1000" b="1">
                <a:solidFill>
                  <a:srgbClr val="0284C7"/>
                </a:solidFill>
              </a:defRPr>
            </a:pPr>
            <a:r>
              <a:t>Clean &amp; Verify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UCI Cleveland dataset (302 validated records).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Deduplication applied to prevent train-test contamination.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Imputed sentinel codes: ca=4 (missing fluoroscopy) and thal=0 using domain modes.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2. Strict Partitioning</a:t>
            </a:r>
          </a:p>
          <a:p>
            <a:pPr>
              <a:spcAft>
                <a:spcPts val="1000"/>
              </a:spcAft>
              <a:defRPr sz="1000" b="1">
                <a:solidFill>
                  <a:srgbClr val="0284C7"/>
                </a:solidFill>
              </a:defRPr>
            </a:pPr>
            <a:r>
              <a:t>Split Before Fitting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Split 80% Train (n=241) and 20% Held-out Test (n=61).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Stratified split preserving exact clinical prevalence.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Crucial: Encoders &amp; scalers fit strictly on training fold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3. ColumnTransformer</a:t>
            </a:r>
          </a:p>
          <a:p>
            <a:pPr>
              <a:spcAft>
                <a:spcPts val="1000"/>
              </a:spcAft>
              <a:defRPr sz="1000" b="1">
                <a:solidFill>
                  <a:srgbClr val="0284C7"/>
                </a:solidFill>
              </a:defRPr>
            </a:pPr>
            <a:r>
              <a:t>Leak-free Preprocessing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Numerical pipeline: Median Imputer + StandardScaler.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Categorical pipeline: Most Frequent Imputer + OneHotEncoder.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Encapsulated in scikit-learn Pipeline object.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4. Validation Strategy</a:t>
            </a:r>
          </a:p>
          <a:p>
            <a:pPr>
              <a:spcAft>
                <a:spcPts val="1000"/>
              </a:spcAft>
              <a:defRPr sz="1000" b="1">
                <a:solidFill>
                  <a:srgbClr val="0284C7"/>
                </a:solidFill>
              </a:defRPr>
            </a:pPr>
            <a:r>
              <a:t>5-Fold Stratified CV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Rigorous cross-validation across 5 internal splits.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Bootstrapped 95% Confidence Intervals for key metrics.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Evaluated on held-out test cohort for true generalizability.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CARDIOPREDICT AI •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Multi-Model Benchmarking &amp; Empirical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  <a:gridCol w="1280160"/>
                <a:gridCol w="1371600"/>
                <a:gridCol w="1280160"/>
                <a:gridCol w="1280160"/>
              </a:tblGrid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5-Fold CV ROC-AUC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Acc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F1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ROC-AUC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Random Forest (Winner)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0.9109 ± 0.0435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78.69%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75.47%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71.43%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0.7547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0.8799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0.9049 ± 0.0477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83.61%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82.14%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82.14%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Support Vector Classifier (RBF)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0.9005 ± 0.0388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80.33%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76.92%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71.43%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0.7692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0.8994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K-Nearest Neighbors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0.8861 ± 0.0420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86.89%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84.62%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0.9351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0.8769 ± 0.0463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75.47%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71.43%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0.7547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0.8810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Majority Class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0.5000 ± 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CARDIOPREDICT AI •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Diagnostic Performance &amp; Classification Metrics</a:t>
            </a:r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909060"/>
          </a:xfrm>
          <a:prstGeom prst="rect">
            <a:avLst/>
          </a:prstGeom>
        </p:spPr>
      </p:pic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CARDIOPREDICT AI •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Feature Importance &amp; Clinical Insights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149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0020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Cardiological Alignment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Exercise ST Depression (oldpeak): Primary diagnostic marker of subendocardial ischemia during treadmill stress.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Fluoroscopy Vessels (ca): Direct anatomical enumeration of coronary luminal stenosis in major arteries.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Thallium Scintigraphy (thal): Differentiates irreversible myocardial infarction scar from reversible inducible ischemia.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Exercise-Induced Angina (exang): Strong subjective symptom correlating with hemodynamic coronary insufficiency.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Maximum Heart Rate (thalach): Protective indicator; high heart rate reserve correlates strongly with healthy cardiac output.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CARDIOPREDICT AI •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Interactive Clinical Decision Support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3A8A"/>
                </a:solidFill>
              </a:defRPr>
            </a:pPr>
            <a:r>
              <a:t>🩺 Patient Risk Calculator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Input 13 patient biometrics via intuitive clinical sliders.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One-click patient presets (High Risk, Low Risk, Borderline).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Real-time CAD probability gauge and confidence score.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Automated clinical flags (Hypertension, Hypercholesterolemia).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3A8A"/>
                </a:solidFill>
              </a:defRPr>
            </a:pPr>
            <a:r>
              <a:t>📁 Batch Screening Tool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Upload entire cohort CSV files for automated triage.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Pre-packaged sample test cohort for immediate demonstration.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Population-level risk distribution analytics.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Exportable enriched diagnostic CSV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3A8A"/>
                </a:solidFill>
              </a:defRPr>
            </a:pPr>
            <a:r>
              <a:t>📊 Live Benchmarks &amp; Slices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Interactive model switching (Random Forest vs Logistic Regression).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Demographic fairness breakdown across age and sex.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Side-by-side performance comparison metrics.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Comprehensive clinical data dictionary and guide.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CARDIOPREDICT AI •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Fairness Auditing &amp; Subpopulation Slice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Female Cohort (sex = 0)</a:t>
            </a:r>
          </a:p>
          <a:p>
            <a:pPr>
              <a:spcAft>
                <a:spcPts val="400"/>
              </a:spcAft>
              <a:defRPr sz="2000" b="1">
                <a:solidFill>
                  <a:srgbClr val="10B981"/>
                </a:solidFill>
              </a:defRPr>
            </a:pPr>
            <a:r>
              <a:t>94.12% Accuracy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17 test patients | 23.5% CAD prevalence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Clinical Note: High sensitivity and specificity; clear distinction of ischemia markers.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Male Cohort (sex = 1)</a:t>
            </a:r>
          </a:p>
          <a:p>
            <a:pPr>
              <a:spcAft>
                <a:spcPts val="400"/>
              </a:spcAft>
              <a:defRPr sz="2000" b="1">
                <a:solidFill>
                  <a:srgbClr val="0284C7"/>
                </a:solidFill>
              </a:defRPr>
            </a:pPr>
            <a:r>
              <a:t>72.73% Accuracy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44 test patients | 54.5% CAD prevalence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Clinical Note: Higher baseline prevalence; typical angina symptoms more pronounced.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Younger Cohort (age &lt; 55)</a:t>
            </a:r>
          </a:p>
          <a:p>
            <a:pPr>
              <a:spcAft>
                <a:spcPts val="400"/>
              </a:spcAft>
              <a:defRPr sz="2000" b="1">
                <a:solidFill>
                  <a:srgbClr val="10B981"/>
                </a:solidFill>
              </a:defRPr>
            </a:pPr>
            <a:r>
              <a:t>89.66% Accuracy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29 test patients | 27.6% CAD prevalence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Clinical Note: Low false positive rate; high exercise tolerance is strongly protective.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Older Cohort (age &gt;= 55)</a:t>
            </a:r>
          </a:p>
          <a:p>
            <a:pPr>
              <a:spcAft>
                <a:spcPts val="400"/>
              </a:spcAft>
              <a:defRPr sz="2000" b="1">
                <a:solidFill>
                  <a:srgbClr val="F59E0B"/>
                </a:solidFill>
              </a:defRPr>
            </a:pPr>
            <a:r>
              <a:t>68.75% Accuracy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32 test patients | 62.5% CAD prevalence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Clinical Note: Higher rate of non-specific ST changes &amp; age-related arterial stiffness.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CARDIOPREDICT AI •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Summary, Impact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Key Project Achievements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High Predictive Discrimination: Random Forest achieved 0.9109 CV ROC-AUC; Logistic Regression reached 83.61% accuracy and 92.42% test ROC-AUC.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Clinical Trust &amp; Explainability: Feature ranking directly corroborates cardiology guidelines regarding ST depression and fluoroscopy vessel count.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Production Software Architecture: Modular package structure with automated data hygiene, CI unit tests (100% pass rate), and Streamlit CDS interface.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Tiered Risk Stratification: Calibrated risk probability allows clinical triage into Low (&lt;25%), Moderate (25-60%), and High (&gt;60%) risk pathways.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Future Roadmap &amp; Enhancements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Electronic Health Record (EHR) Integration: Implement HL7 / FHIR API connectors for seamless integration into hospital management systems.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Multi-Center External Cohorts: Validate against international registries (Hungarian, Swiss, Long Beach VA datasets).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Deep Learning Waveform Analysis: Transition from discrete tabular ECG metrics to raw 12-lead ECG voltage time-series models (1D-CNN / Transformers).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Medical Disclaimer: Designed for investigational decision-support; not a replacement for formal physician diagnosis.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